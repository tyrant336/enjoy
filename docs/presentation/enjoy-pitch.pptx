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0:00-0:10 — Say: 'This is enjoy — a calm ocean world that does the busywork of studying for you.' Then cut straight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0:10-0:25 — Pain first, one breath per bullet. Land on: 'none of that is learning — it's overhead.'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0:25-0:40 — The metaphor in one breath. 'No streaks, no guilt — the lamp only records victories.' Then: 'let me show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0:40-1:05 — CUT TO GAMEPLAY here. Type the sentence live, let the tour offer and boat spawn play. Voiceover: 'The orchestrator routes it, the planner templates it, the world shows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1:05-1:30 — CUT TO GAMEPLAY. Play the recorded review loop. Voiceover: 'Real retrieval practice — the AI never answers for you, it just removes everything else.'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1:30-1:45 — CUT TO GAMEPLAY: dive, pan the atlas, open one node. Voiceover: 'Your portfolio isn't a chart — it's a place.'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1:45-1:55 — Technical credibility in ten seconds. Don't read the bullets; say: 'agents do the plumbing, Postgres is the single truth, and the AI never studies FOR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1:55-2:00 — Slow down. One line: 'A returning student is welcomed, never billed for absence. Thank you.' End on the lamp shot if you have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2E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9600" b="1">
                <a:solidFill>
                  <a:srgbClr val="F7F7F0"/>
                </a:solidFill>
                <a:latin typeface="Segoe UI"/>
              </a:rPr>
              <a:t>enjoy</a:t>
            </a:r>
          </a:p>
          <a:p>
            <a:pPr algn="ctr">
              <a:spcAft>
                <a:spcPts val="1000"/>
              </a:spcAft>
            </a:pPr>
            <a:r>
              <a:rPr sz="3600" b="0">
                <a:solidFill>
                  <a:srgbClr val="E8B46A"/>
                </a:solidFill>
                <a:latin typeface="Segoe UI"/>
              </a:rPr>
              <a:t>the Harbour of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EDEDDD"/>
                </a:solidFill>
                <a:latin typeface="Segoe UI"/>
              </a:rPr>
              <a:t>A cozy ocean world that automates studying.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>
                <a:solidFill>
                  <a:srgbClr val="1A203B"/>
                </a:solidFill>
                <a:latin typeface="Segoe UI"/>
              </a:rPr>
              <a:t>Students don't drown in learning.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011680"/>
            <a:ext cx="9235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0F4C5C"/>
                </a:solidFill>
                <a:latin typeface="Segoe UI"/>
              </a:rPr>
              <a:t>They drown in the work AROUND it:</a:t>
            </a:r>
          </a:p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1A203B"/>
                </a:solidFill>
                <a:latin typeface="Segoe UI"/>
              </a:rPr>
              <a:t>planning what to study   ·   formatting flashcards</a:t>
            </a:r>
          </a:p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1A203B"/>
                </a:solidFill>
                <a:latin typeface="Segoe UI"/>
              </a:rPr>
              <a:t>scheduling reviews   ·   tracking progress</a:t>
            </a:r>
          </a:p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E8B46A"/>
                </a:solidFill>
                <a:latin typeface="Segoe UI"/>
              </a:rPr>
              <a:t>That's extraneous load — and it eats the evening.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28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>
                <a:solidFill>
                  <a:srgbClr val="F7F7F0"/>
                </a:solidFill>
                <a:latin typeface="Segoe UI"/>
              </a:rPr>
              <a:t>What if your study plan were a harbour?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EDEDDD"/>
                </a:solidFill>
                <a:latin typeface="Segoe UI"/>
              </a:rPr>
              <a:t>tasks are boats   ·   reviews are a short sail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EDEDDD"/>
                </a:solidFill>
                <a:latin typeface="Segoe UI"/>
              </a:rPr>
              <a:t>finished decks rest at the lamp   ·   knowledge grows as a reef below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400" b="1">
                <a:solidFill>
                  <a:srgbClr val="F7F7F0"/>
                </a:solidFill>
                <a:latin typeface="Segoe UI"/>
              </a:rPr>
              <a:t>One sentence becomes a plan.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EDEDDD"/>
                </a:solidFill>
                <a:latin typeface="Segoe UI"/>
              </a:rPr>
              <a:t>"I have a thermodynamics exam Friday"  -&gt;  roadmap, tasks, and boats on the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E8B46A"/>
                </a:solidFill>
                <a:latin typeface="Segoe UI"/>
              </a:rPr>
              <a:t>&gt;&gt;&gt; GAMEPLAY: type in chat, tour offer appears, boats spawn &lt;&lt;&lt;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400" b="1">
                <a:solidFill>
                  <a:srgbClr val="F7F7F0"/>
                </a:solidFill>
                <a:latin typeface="Segoe UI"/>
              </a:rPr>
              <a:t>Flashcards are a short sail.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F7F7F0"/>
                </a:solidFill>
                <a:latin typeface="Segoe UI"/>
              </a:rPr>
              <a:t>board the boat  -&gt;  question  -&gt;  reveal  -&gt;  four grade boats</a:t>
            </a:r>
          </a:p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EDEDDD"/>
                </a:solidFill>
                <a:latin typeface="Segoe UI"/>
              </a:rPr>
              <a:t>finish the deck and it docks at the lamp — glowing a little brighter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1A203B"/>
                </a:solidFill>
                <a:latin typeface="Segoe UI"/>
              </a:rPr>
              <a:t>&gt;&gt;&gt; GAMEPLAY: full 3-card review, keyboard only, dock + lamp glow &lt;&lt;&lt;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400" b="1">
                <a:solidFill>
                  <a:srgbClr val="F7F7F0"/>
                </a:solidFill>
                <a:latin typeface="Segoe UI"/>
              </a:rPr>
              <a:t>Knowledge grows beneath the sea.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EDEDDD"/>
                </a:solidFill>
                <a:latin typeface="Segoe UI"/>
              </a:rPr>
              <a:t>dive down: every concept you study joins a living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E8B46A"/>
                </a:solidFill>
                <a:latin typeface="Segoe UI"/>
              </a:rPr>
              <a:t>&gt;&gt;&gt; GAMEPLAY: dive transition, atlas nodes, click a node &lt;&lt;&lt;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>
                <a:solidFill>
                  <a:srgbClr val="1A203B"/>
                </a:solidFill>
                <a:latin typeface="Segoe U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A203B"/>
                </a:solidFill>
                <a:latin typeface="Segoe UI"/>
              </a:rPr>
              <a:t>FastAPI + agent orchestrator  -&gt;  planner, flashcards, knowledge graph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A203B"/>
                </a:solidFill>
                <a:latin typeface="Segoe UI"/>
              </a:rPr>
              <a:t>Postgres + one ordered event stream  -&gt;  the world can never drift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A203B"/>
                </a:solidFill>
                <a:latin typeface="Segoe UI"/>
              </a:rPr>
              <a:t>Next.js + three.js  -&gt;  one runtime path, no mock modes</a:t>
            </a:r>
          </a:p>
          <a:p>
            <a:pPr algn="l">
              <a:spcAft>
                <a:spcPts val="1000"/>
              </a:spcAft>
            </a:pPr>
            <a:r>
              <a:rPr sz="2600" b="1">
                <a:solidFill>
                  <a:srgbClr val="0F4C5C"/>
                </a:solidFill>
                <a:latin typeface="Segoe UI"/>
              </a:rPr>
              <a:t>AI absorbs the overhead — never the thinking.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E8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800" b="1">
                <a:solidFill>
                  <a:srgbClr val="F7F7F0"/>
                </a:solidFill>
                <a:latin typeface="Segoe UI"/>
              </a:rPr>
              <a:t>The lamp records victories only.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E8B46A"/>
                </a:solidFill>
                <a:latin typeface="Segoe UI"/>
              </a:rPr>
              <a:t>enjoy — come back to a harbour, never a bill.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