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0:00-0:10 — 'This is enjoy — a calm ocean world that does the busywork of studying for you.'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0:10-0:25 — owner's framing: stress, burden, wasted time, chatbot shortcut. Land on: 'none of that is learning.'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0:25-0:40 — three offers, one breath each. Then: 'let me show you.'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0:40-1:05 — CUT TO GAMEPLAY A. 'The orchestrator routes it, the planner templates it, the world shows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1:05-1:30 — CUT TO GAMEPLAY B. 'The AI never answers for you — it removes everything else.'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1:30-1:45 — CUT TO GAMEPLAY C: dive, pan, one node drawer,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1:45-1:55 — talk ONLY the top 3: multi-agent for quality, LangChain to guide the AI, Three.js for the world. Point at the full list, don't read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 slide — not spoken in the 2:00. If asked about tech: 'each agent stands on proven open source — the list is in our repo.'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1:55-2:00 — slow: 'A returning student is welcomed, never billed for absence. Thank you.'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0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257800"/>
            <a:ext cx="12191695" cy="91440"/>
          </a:xfrm>
          <a:prstGeom prst="rect">
            <a:avLst/>
          </a:prstGeom>
          <a:solidFill>
            <a:srgbClr val="2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0">
                <a:solidFill>
                  <a:srgbClr val="F7F7F0"/>
                </a:solidFill>
                <a:latin typeface="Segoe UI Emoji"/>
              </a:rPr>
              <a:t>🌊 ⛵ 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0000" b="1">
                <a:solidFill>
                  <a:srgbClr val="F7F7F0"/>
                </a:solidFill>
                <a:latin typeface="Segoe UI"/>
              </a:rPr>
              <a:t>enjoy</a:t>
            </a:r>
          </a:p>
          <a:p>
            <a:pPr algn="ctr">
              <a:spcAft>
                <a:spcPts val="800"/>
              </a:spcAft>
            </a:pPr>
            <a:r>
              <a:rPr sz="3400" b="0">
                <a:solidFill>
                  <a:srgbClr val="E8B46A"/>
                </a:solidFill>
                <a:latin typeface="Segoe UI"/>
              </a:rPr>
              <a:t>the Harbour of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0">
                <a:solidFill>
                  <a:srgbClr val="EDEDDD"/>
                </a:solidFill>
                <a:latin typeface="Segoe UI"/>
              </a:rPr>
              <a:t>a cozy ocean world that automates studying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enjoy 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D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4C5C"/>
                </a:solidFill>
                <a:latin typeface="Segoe UI"/>
              </a:rPr>
              <a:t>THE PROBLEM 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1A203B"/>
                </a:solidFill>
                <a:latin typeface="Segoe UI"/>
              </a:rPr>
              <a:t>Students are stressed out 🎓💦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331720"/>
            <a:ext cx="10149840" cy="868680"/>
          </a:xfrm>
          <a:prstGeom prst="roundRect">
            <a:avLst/>
          </a:prstGeom>
          <a:solidFill>
            <a:srgbClr val="FFF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2441448"/>
            <a:ext cx="950976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A203B"/>
                </a:solidFill>
                <a:latin typeface="Segoe UI"/>
              </a:rPr>
              <a:t>📚  current edtech  →  adds MORE burden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3429000"/>
            <a:ext cx="10149840" cy="868680"/>
          </a:xfrm>
          <a:prstGeom prst="roundRect">
            <a:avLst/>
          </a:prstGeom>
          <a:solidFill>
            <a:srgbClr val="FFF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538728"/>
            <a:ext cx="950976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A203B"/>
                </a:solidFill>
                <a:latin typeface="Segoe UI"/>
              </a:rPr>
              <a:t>⏳  time wasted on tools  →  better spent learning yourself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526280"/>
            <a:ext cx="10149840" cy="868680"/>
          </a:xfrm>
          <a:prstGeom prst="roundRect">
            <a:avLst/>
          </a:prstGeom>
          <a:solidFill>
            <a:srgbClr val="FFF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4636008"/>
            <a:ext cx="950976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A203B"/>
                </a:solidFill>
                <a:latin typeface="Segoe UI"/>
              </a:rPr>
              <a:t>🤖  or a chatbot finishes the work  →  nothing is learned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2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E8C8C"/>
                </a:solidFill>
                <a:latin typeface="Segoe UI"/>
              </a:rPr>
              <a:t>enjoy 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2E8C8C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8B46A"/>
                </a:solidFill>
                <a:latin typeface="Segoe UI"/>
              </a:rPr>
              <a:t>WHAT WE OFFER 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7F7F0"/>
                </a:solidFill>
                <a:latin typeface="Segoe UI"/>
              </a:rPr>
              <a:t>Calm automation, real learning 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331720"/>
            <a:ext cx="10149840" cy="86868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2441448"/>
            <a:ext cx="950976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F7F0"/>
                </a:solidFill>
                <a:latin typeface="Segoe UI"/>
              </a:rPr>
              <a:t>⏱️  time-saving AI agents  →  boring tasks gone (notes, planning)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3429000"/>
            <a:ext cx="10149840" cy="86868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538728"/>
            <a:ext cx="950976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F7F0"/>
                </a:solidFill>
                <a:latin typeface="Segoe UI"/>
              </a:rPr>
              <a:t>🧩  big tasks  →  broken down  →  executive function boost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526280"/>
            <a:ext cx="10149840" cy="86868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4636008"/>
            <a:ext cx="950976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F7F0"/>
                </a:solidFill>
                <a:latin typeface="Segoe UI"/>
              </a:rPr>
              <a:t>🧘  psychology-backed calm  →  ❌ dashboards  ❌ red deadlines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enjoy 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0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8B46A"/>
                </a:solidFill>
                <a:latin typeface="Segoe UI"/>
              </a:rPr>
              <a:t>DEMO 1/3 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7F7F0"/>
                </a:solidFill>
                <a:latin typeface="Segoe UI"/>
              </a:rPr>
              <a:t>One sentence  →  a plan 🗺️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468880"/>
            <a:ext cx="10149840" cy="105156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2578608"/>
            <a:ext cx="9509760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E8B46A"/>
                </a:solidFill>
                <a:latin typeface="Segoe UI"/>
              </a:rPr>
              <a:t>"I have a thermodynamics exam Friday"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EDEDDD"/>
                </a:solidFill>
                <a:latin typeface="Segoe UI"/>
              </a:rPr>
              <a:t>→  roadmap   →  tasks   →  boats on the water 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2E8C8C"/>
                </a:solidFill>
                <a:latin typeface="Segoe UI"/>
              </a:rPr>
              <a:t>▶  LIVE: type in chat  →  tour offer  →  boats spawn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enjoy 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A203B"/>
                </a:solidFill>
                <a:latin typeface="Segoe UI"/>
              </a:rPr>
              <a:t>DEMO 2/3 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7F7F0"/>
                </a:solidFill>
                <a:latin typeface="Segoe UI"/>
              </a:rPr>
              <a:t>Flashcards  =  a short sail 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377440"/>
            <a:ext cx="10149840" cy="155448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2487168"/>
            <a:ext cx="950976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7F7F0"/>
                </a:solidFill>
                <a:latin typeface="Segoe UI"/>
              </a:rPr>
              <a:t>board  →  ❓ question  →  👀 reveal  →  4️⃣ grade boats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EDEDDD"/>
                </a:solidFill>
                <a:latin typeface="Segoe UI"/>
              </a:rPr>
              <a:t>deck done  →  docks at the lamp  →  glows brighter 🏮✨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A203B"/>
                </a:solidFill>
                <a:latin typeface="Segoe UI"/>
              </a:rPr>
              <a:t>▶  LIVE: 3-card review, keyboard only, dock + lamp glow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enjoy 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0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8B46A"/>
                </a:solidFill>
                <a:latin typeface="Segoe UI"/>
              </a:rPr>
              <a:t>DEMO 3/3 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7F7F0"/>
                </a:solidFill>
                <a:latin typeface="Segoe UI"/>
              </a:rPr>
              <a:t>Knowledge grows under the sea 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468880"/>
            <a:ext cx="10149840" cy="105156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2578608"/>
            <a:ext cx="9509760" cy="83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F7F0"/>
                </a:solidFill>
                <a:latin typeface="Segoe UI"/>
              </a:rPr>
              <a:t>dive down 🤿  →  every concept joins a living atlas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EDEDDD"/>
                </a:solidFill>
                <a:latin typeface="Segoe UI"/>
              </a:rPr>
              <a:t>your portfolio isn't a chart  →  it's a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2E8C8C"/>
                </a:solidFill>
                <a:latin typeface="Segoe UI"/>
              </a:rPr>
              <a:t>▶  LIVE: dive transition  →  atlas  →  click a node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enjoy 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DD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4C5C"/>
                </a:solidFill>
                <a:latin typeface="Segoe UI"/>
              </a:rPr>
              <a:t>TECH STACK 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A203B"/>
                </a:solidFill>
                <a:latin typeface="Segoe UI"/>
              </a:rPr>
              <a:t>Why this stack 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874519"/>
            <a:ext cx="3264408" cy="1371600"/>
          </a:xfrm>
          <a:prstGeom prst="roundRect">
            <a:avLst/>
          </a:prstGeom>
          <a:solidFill>
            <a:srgbClr val="FFF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1984248"/>
            <a:ext cx="2624328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A203B"/>
                </a:solidFill>
                <a:latin typeface="Segoe UI"/>
              </a:rPr>
              <a:t>🤖  Multi-agent system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4C5C"/>
                </a:solidFill>
                <a:latin typeface="Segoe UI"/>
              </a:rPr>
              <a:t>specialised agents  →  higher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53128" y="1874519"/>
            <a:ext cx="3264408" cy="1371600"/>
          </a:xfrm>
          <a:prstGeom prst="roundRect">
            <a:avLst/>
          </a:prstGeom>
          <a:solidFill>
            <a:srgbClr val="FFF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73168" y="1984248"/>
            <a:ext cx="2624328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A203B"/>
                </a:solidFill>
                <a:latin typeface="Segoe UI"/>
              </a:rPr>
              <a:t>🦜🔗  LangChain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4C5C"/>
                </a:solidFill>
                <a:latin typeface="Segoe UI"/>
              </a:rPr>
              <a:t>guides the AI  →  controlled, reliable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0416" y="1874519"/>
            <a:ext cx="3264408" cy="1371600"/>
          </a:xfrm>
          <a:prstGeom prst="roundRect">
            <a:avLst/>
          </a:prstGeom>
          <a:solidFill>
            <a:srgbClr val="FFF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0456" y="1984248"/>
            <a:ext cx="2624328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A203B"/>
                </a:solidFill>
                <a:latin typeface="Segoe UI"/>
              </a:rPr>
              <a:t>🕸️  Three.js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4C5C"/>
                </a:solidFill>
                <a:latin typeface="Segoe UI"/>
              </a:rPr>
              <a:t>powers the 3D game world in the browser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3520440"/>
            <a:ext cx="10149840" cy="45720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584448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7F7F0"/>
                </a:solidFill>
                <a:latin typeface="Segoe UI"/>
              </a:rPr>
              <a:t>THE FULL STACK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977639"/>
            <a:ext cx="3264408" cy="1965960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F4C5C"/>
                </a:solidFill>
                <a:latin typeface="Segoe UI"/>
              </a:rPr>
              <a:t>FRONTEND 🖥️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526280"/>
            <a:ext cx="2788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>
                <a:solidFill>
                  <a:srgbClr val="1A203B"/>
                </a:solidFill>
                <a:latin typeface="Segoe UI"/>
              </a:rPr>
              <a:t>Next.js 16  ·  React 19  ·  TypeScript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A203B"/>
                </a:solidFill>
                <a:latin typeface="Segoe UI"/>
              </a:rPr>
              <a:t>Three.js  +  react-three-fiber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A203B"/>
                </a:solidFill>
                <a:latin typeface="Segoe UI"/>
              </a:rPr>
              <a:t>Zustand  ·  Tailwind CSS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53128" y="3977639"/>
            <a:ext cx="3264408" cy="1965960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F4C5C"/>
                </a:solidFill>
                <a:latin typeface="Segoe UI"/>
              </a:rPr>
              <a:t>BACKEND 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4526280"/>
            <a:ext cx="2788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>
                <a:solidFill>
                  <a:srgbClr val="1A203B"/>
                </a:solidFill>
                <a:latin typeface="Segoe UI"/>
              </a:rPr>
              <a:t>Python 3.12  ·  FastAPI  ·  Pydantic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A203B"/>
                </a:solidFill>
                <a:latin typeface="Segoe UI"/>
              </a:rPr>
              <a:t>Multi-agent: orchestrator · planner · flashcards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A203B"/>
                </a:solidFill>
                <a:latin typeface="Segoe UI"/>
              </a:rPr>
              <a:t>LangChain / LangGraph  ·  SSE streaming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0416" y="3977639"/>
            <a:ext cx="3264408" cy="1965960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74736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F4C5C"/>
                </a:solidFill>
                <a:latin typeface="Segoe UI"/>
              </a:rPr>
              <a:t>DATA &amp; INFRA 🗄️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4526280"/>
            <a:ext cx="2788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>
                <a:solidFill>
                  <a:srgbClr val="1A203B"/>
                </a:solidFill>
                <a:latin typeface="Segoe UI"/>
              </a:rPr>
              <a:t>PostgreSQL 16  ·  SQLAlchemy async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A203B"/>
                </a:solidFill>
                <a:latin typeface="Segoe UI"/>
              </a:rPr>
              <a:t>Alembic migrations  ·  Docker Compose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A203B"/>
                </a:solidFill>
                <a:latin typeface="Segoe UI"/>
              </a:rPr>
              <a:t>event-sourced world state  →  never drifts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2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E8C8C"/>
                </a:solidFill>
                <a:latin typeface="Segoe UI"/>
              </a:rPr>
              <a:t>enjoy 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2E8C8C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8B46A"/>
                </a:solidFill>
                <a:latin typeface="Segoe UI"/>
              </a:rPr>
              <a:t>STANDING ON OPEN SOURCE 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F7F7F0"/>
                </a:solidFill>
                <a:latin typeface="Segoe UI"/>
              </a:rPr>
              <a:t>Built with open source, agent by agent 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874519"/>
            <a:ext cx="3264408" cy="169164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1984248"/>
            <a:ext cx="2624328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8B46A"/>
                </a:solidFill>
                <a:latin typeface="Segoe UI"/>
              </a:rPr>
              <a:t>🛳️ Scheduler agent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EDEDDD"/>
                </a:solidFill>
                <a:latin typeface="Segoe UI"/>
              </a:rPr>
              <a:t>LangGraph plan-and-execute  ·  obsidian-magic-tasks  ·  study-revision-planner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53128" y="1874519"/>
            <a:ext cx="3264408" cy="169164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73168" y="1984248"/>
            <a:ext cx="2624328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8B46A"/>
                </a:solidFill>
                <a:latin typeface="Segoe UI"/>
              </a:rPr>
              <a:t>⛵ Flashcard agent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EDEDDD"/>
                </a:solidFill>
                <a:latin typeface="Segoe UI"/>
              </a:rPr>
              <a:t>anki-llm-flashcard-generator (forked)  ·  py-fsrs  ·  genanki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0416" y="1874519"/>
            <a:ext cx="3264408" cy="169164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0456" y="1984248"/>
            <a:ext cx="2624328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8B46A"/>
                </a:solidFill>
                <a:latin typeface="Segoe UI"/>
              </a:rPr>
              <a:t>🌊 Knowledge graph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EDEDDD"/>
                </a:solidFill>
                <a:latin typeface="Segoe UI"/>
              </a:rPr>
              <a:t>langchain-experimental graph transformer  ·  nano-graphrag  ·  KeyBERT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3794760"/>
            <a:ext cx="3264408" cy="169164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904488"/>
            <a:ext cx="2624328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8B46A"/>
                </a:solidFill>
                <a:latin typeface="Segoe UI"/>
              </a:rPr>
              <a:t>🧭 Orchestrator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EDEDDD"/>
                </a:solidFill>
                <a:latin typeface="Segoe UI"/>
              </a:rPr>
              <a:t>fastapi-langgraph-template  ·  langgraph-swarm handoffs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53128" y="3794760"/>
            <a:ext cx="3264408" cy="169164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3904488"/>
            <a:ext cx="2624328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8B46A"/>
                </a:solidFill>
                <a:latin typeface="Segoe UI"/>
              </a:rPr>
              <a:t>🎨 World rendering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EDEDDD"/>
                </a:solidFill>
                <a:latin typeface="Segoe UI"/>
              </a:rPr>
              <a:t>stylized-water shaders  ·  camera-controls  ·  underwater-atlas engine (three.js + GLSL)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0416" y="3794760"/>
            <a:ext cx="3264408" cy="1691640"/>
          </a:xfrm>
          <a:prstGeom prst="roundRect">
            <a:avLst/>
          </a:prstGeom>
          <a:solidFill>
            <a:srgbClr val="24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3904488"/>
            <a:ext cx="2624328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8B46A"/>
                </a:solidFill>
                <a:latin typeface="Segoe UI"/>
              </a:rPr>
              <a:t>🧱 3D assets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EDEDDD"/>
                </a:solidFill>
                <a:latin typeface="Segoe UI"/>
              </a:rPr>
              <a:t>Kenney CC0 boats  ·  custom Blender fishboat + lamp buoy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0">
                <a:solidFill>
                  <a:srgbClr val="D8E4E0"/>
                </a:solidFill>
                <a:latin typeface="Segoe UI"/>
              </a:rPr>
              <a:t>full credit list  →  opensource/README.md 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enjoy 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0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5400" b="0">
                <a:solidFill>
                  <a:srgbClr val="F7F7F0"/>
                </a:solidFill>
                <a:latin typeface="Segoe UI Emoji"/>
              </a:rPr>
              <a:t>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600" b="1">
                <a:solidFill>
                  <a:srgbClr val="F7F7F0"/>
                </a:solidFill>
                <a:latin typeface="Segoe UI"/>
              </a:rPr>
              <a:t>The lamp records victories only.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60" y="3520440"/>
            <a:ext cx="3227832" cy="54864"/>
          </a:xfrm>
          <a:prstGeom prst="rect">
            <a:avLst/>
          </a:prstGeom>
          <a:solidFill>
            <a:srgbClr val="E8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600" b="0">
                <a:solidFill>
                  <a:srgbClr val="E8B46A"/>
                </a:solidFill>
                <a:latin typeface="Segoe UI"/>
              </a:rPr>
              <a:t>enjoy — come back to a harbour, never a bill. 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0">
                <a:solidFill>
                  <a:srgbClr val="EDEDDD"/>
                </a:solidFill>
                <a:latin typeface="Segoe UI"/>
              </a:rPr>
              <a:t>thank you 🙏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457200" cy="41148"/>
          </a:xfrm>
          <a:prstGeom prst="rect">
            <a:avLst/>
          </a:prstGeom>
          <a:solidFill>
            <a:srgbClr val="D8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1081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enjoy 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1081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>
                <a:solidFill>
                  <a:srgbClr val="D8E4E0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